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2.xml" ContentType="application/vnd.openxmlformats-officedocument.drawingml.chart+xml"/>
  <Override PartName="/ppt/notesSlides/notesSlide4.xml" ContentType="application/vnd.openxmlformats-officedocument.presentationml.notesSlide+xml"/>
  <Override PartName="/ppt/charts/chart3.xml" ContentType="application/vnd.openxmlformats-officedocument.drawingml.chart+xml"/>
  <Override PartName="/ppt/notesSlides/notesSlide5.xml" ContentType="application/vnd.openxmlformats-officedocument.presentationml.notesSlide+xml"/>
  <Override PartName="/ppt/charts/chart4.xml" ContentType="application/vnd.openxmlformats-officedocument.drawingml.chart+xml"/>
  <Override PartName="/ppt/notesSlides/notesSlide6.xml" ContentType="application/vnd.openxmlformats-officedocument.presentationml.notesSlide+xml"/>
  <Override PartName="/ppt/charts/chart5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6.xml" ContentType="application/vnd.openxmlformats-officedocument.drawingml.chart+xml"/>
  <Override PartName="/ppt/notesSlides/notesSlide10.xml" ContentType="application/vnd.openxmlformats-officedocument.presentationml.notesSlide+xml"/>
  <Override PartName="/ppt/charts/chart7.xml" ContentType="application/vnd.openxmlformats-officedocument.drawingml.chart+xml"/>
  <Override PartName="/ppt/notesSlides/notesSlide11.xml" ContentType="application/vnd.openxmlformats-officedocument.presentationml.notesSlide+xml"/>
  <Override PartName="/ppt/charts/chart8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1" d="100"/>
          <a:sy n="71" d="100"/>
        </p:scale>
        <p:origin x="-678" y="-13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 volume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21B2D"/>
              </a:solidFill>
              <a:effectLst/>
            </c:spPr>
          </c:dPt>
          <c:dPt>
            <c:idx val="1"/>
            <c:bubble3D val="0"/>
            <c:spPr>
              <a:solidFill>
                <a:srgbClr val="2364AA"/>
              </a:solidFill>
              <a:effectLst/>
            </c:spPr>
          </c:dPt>
          <c:dPt>
            <c:idx val="2"/>
            <c:bubble3D val="0"/>
            <c:spPr>
              <a:solidFill>
                <a:srgbClr val="F2B705"/>
              </a:solidFill>
              <a:effectLst/>
            </c:spPr>
          </c:dPt>
          <c:dPt>
            <c:idx val="3"/>
            <c:bubble3D val="0"/>
            <c:spPr>
              <a:solidFill>
                <a:srgbClr val="18A999"/>
              </a:solidFill>
              <a:effectLst/>
            </c:spPr>
          </c:dPt>
          <c:cat>
            <c:strRef>
              <c:f>Sheet1!$A$2:$A$5</c:f>
              <c:strCache>
                <c:ptCount val="4"/>
                <c:pt idx="0">
                  <c:v>Bar</c:v>
                </c:pt>
                <c:pt idx="1">
                  <c:v>Club</c:v>
                </c:pt>
                <c:pt idx="2">
                  <c:v>Hotel</c:v>
                </c:pt>
                <c:pt idx="3">
                  <c:v>Restaurant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342823</c:v>
                </c:pt>
                <c:pt idx="1">
                  <c:v>408515</c:v>
                </c:pt>
                <c:pt idx="2">
                  <c:v>348942</c:v>
                </c:pt>
                <c:pt idx="3">
                  <c:v>380568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62"/>
      </c:doughnutChart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2017</c:v>
                </c:pt>
              </c:strCache>
            </c:strRef>
          </c:tx>
          <c:spPr>
            <a:solidFill>
              <a:srgbClr val="9AA3AF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Bar</c:v>
                </c:pt>
                <c:pt idx="1">
                  <c:v>Club</c:v>
                </c:pt>
                <c:pt idx="2">
                  <c:v>Hotel</c:v>
                </c:pt>
                <c:pt idx="3">
                  <c:v>Restaurant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51804</c:v>
                </c:pt>
                <c:pt idx="1">
                  <c:v>47259</c:v>
                </c:pt>
                <c:pt idx="2">
                  <c:v>44888</c:v>
                </c:pt>
                <c:pt idx="3">
                  <c:v>46025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2021</c:v>
                </c:pt>
              </c:strCache>
            </c:strRef>
          </c:tx>
          <c:spPr>
            <a:solidFill>
              <a:srgbClr val="E21B2D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Bar</c:v>
                </c:pt>
                <c:pt idx="1">
                  <c:v>Club</c:v>
                </c:pt>
                <c:pt idx="2">
                  <c:v>Hotel</c:v>
                </c:pt>
                <c:pt idx="3">
                  <c:v>Restaurant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94147</c:v>
                </c:pt>
                <c:pt idx="1">
                  <c:v>112270</c:v>
                </c:pt>
                <c:pt idx="2">
                  <c:v>100592</c:v>
                </c:pt>
                <c:pt idx="3">
                  <c:v>102185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41035264"/>
        <c:axId val="41036800"/>
      </c:barChart>
      <c:catAx>
        <c:axId val="4103526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41036800"/>
        <c:crosses val="autoZero"/>
        <c:auto val="1"/>
        <c:lblAlgn val="ctr"/>
        <c:lblOffset val="100"/>
        <c:noMultiLvlLbl val="1"/>
      </c:catAx>
      <c:valAx>
        <c:axId val="41036800"/>
        <c:scaling>
          <c:orientation val="minMax"/>
          <c:max val="12500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41035264"/>
        <c:crosses val="autoZero"/>
        <c:crossBetween val="between"/>
        <c:majorUnit val="25000"/>
      </c:valAx>
      <c:spPr>
        <a:noFill/>
        <a:ln>
          <a:noFill/>
        </a:ln>
        <a:effectLst/>
      </c:spPr>
    </c:plotArea>
    <c:legend>
      <c:legendPos val="b"/>
      <c:layout/>
      <c:overlay val="0"/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 volume</c:v>
                </c:pt>
              </c:strCache>
            </c:strRef>
          </c:tx>
          <c:spPr>
            <a:solidFill>
              <a:srgbClr val="E21B2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Bar</c:v>
                </c:pt>
                <c:pt idx="1">
                  <c:v>Club</c:v>
                </c:pt>
                <c:pt idx="2">
                  <c:v>Hotel</c:v>
                </c:pt>
                <c:pt idx="3">
                  <c:v>Restaurant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342823</c:v>
                </c:pt>
                <c:pt idx="1">
                  <c:v>408515</c:v>
                </c:pt>
                <c:pt idx="2">
                  <c:v>348942</c:v>
                </c:pt>
                <c:pt idx="3">
                  <c:v>380568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41136128"/>
        <c:axId val="41137664"/>
      </c:barChart>
      <c:catAx>
        <c:axId val="411361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41137664"/>
        <c:crosses val="autoZero"/>
        <c:auto val="1"/>
        <c:lblAlgn val="ctr"/>
        <c:lblOffset val="100"/>
        <c:noMultiLvlLbl val="1"/>
      </c:catAx>
      <c:valAx>
        <c:axId val="41137664"/>
        <c:scaling>
          <c:orientation val="minMax"/>
          <c:max val="45000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41136128"/>
        <c:crosses val="autoZero"/>
        <c:crossBetween val="between"/>
        <c:majorUnit val="100000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Bar</c:v>
                </c:pt>
              </c:strCache>
            </c:strRef>
          </c:tx>
          <c:spPr>
            <a:ln w="29210" cap="flat">
              <a:solidFill>
                <a:srgbClr val="E21B2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21B2D"/>
              </a:solidFill>
              <a:ln w="9525" cap="flat">
                <a:solidFill>
                  <a:srgbClr val="E21B2D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51804</c:v>
                </c:pt>
                <c:pt idx="1">
                  <c:v>60121</c:v>
                </c:pt>
                <c:pt idx="2">
                  <c:v>60760</c:v>
                </c:pt>
                <c:pt idx="3">
                  <c:v>75991</c:v>
                </c:pt>
                <c:pt idx="4">
                  <c:v>94147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Club</c:v>
                </c:pt>
              </c:strCache>
            </c:strRef>
          </c:tx>
          <c:spPr>
            <a:ln w="29210" cap="flat">
              <a:solidFill>
                <a:srgbClr val="2364AA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364AA"/>
              </a:solidFill>
              <a:ln w="9525" cap="flat">
                <a:solidFill>
                  <a:srgbClr val="2364AA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47259</c:v>
                </c:pt>
                <c:pt idx="1">
                  <c:v>67275</c:v>
                </c:pt>
                <c:pt idx="2">
                  <c:v>79646</c:v>
                </c:pt>
                <c:pt idx="3">
                  <c:v>102065</c:v>
                </c:pt>
                <c:pt idx="4">
                  <c:v>112270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Hotel</c:v>
                </c:pt>
              </c:strCache>
            </c:strRef>
          </c:tx>
          <c:spPr>
            <a:ln w="29210" cap="flat">
              <a:solidFill>
                <a:srgbClr val="F2B705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2B705"/>
              </a:solidFill>
              <a:ln w="9525" cap="flat">
                <a:solidFill>
                  <a:srgbClr val="F2B705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44888</c:v>
                </c:pt>
                <c:pt idx="1">
                  <c:v>50567</c:v>
                </c:pt>
                <c:pt idx="2">
                  <c:v>70312</c:v>
                </c:pt>
                <c:pt idx="3">
                  <c:v>82583</c:v>
                </c:pt>
                <c:pt idx="4">
                  <c:v>100592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Restaurant</c:v>
                </c:pt>
              </c:strCache>
            </c:strRef>
          </c:tx>
          <c:spPr>
            <a:ln w="29210" cap="flat">
              <a:solidFill>
                <a:srgbClr val="18A999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8A999"/>
              </a:solidFill>
              <a:ln w="9525" cap="flat">
                <a:solidFill>
                  <a:srgbClr val="18A999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</c:strCache>
            </c: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46025</c:v>
                </c:pt>
                <c:pt idx="1">
                  <c:v>65032</c:v>
                </c:pt>
                <c:pt idx="2">
                  <c:v>77731</c:v>
                </c:pt>
                <c:pt idx="3">
                  <c:v>89595</c:v>
                </c:pt>
                <c:pt idx="4">
                  <c:v>102185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1392384"/>
        <c:axId val="41684992"/>
      </c:lineChart>
      <c:catAx>
        <c:axId val="4139238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41684992"/>
        <c:crosses val="autoZero"/>
        <c:auto val="1"/>
        <c:lblAlgn val="ctr"/>
        <c:lblOffset val="100"/>
        <c:noMultiLvlLbl val="1"/>
      </c:catAx>
      <c:valAx>
        <c:axId val="41684992"/>
        <c:scaling>
          <c:orientation val="minMax"/>
          <c:max val="125000"/>
          <c:min val="3000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41392384"/>
        <c:crosses val="autoZero"/>
        <c:crossBetween val="between"/>
        <c:majorUnit val="25000"/>
      </c:valAx>
      <c:spPr>
        <a:noFill/>
        <a:ln>
          <a:noFill/>
        </a:ln>
        <a:effectLst/>
      </c:spPr>
    </c:plotArea>
    <c:legend>
      <c:legendPos val="b"/>
      <c:layout/>
      <c:overlay val="0"/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Net gain</c:v>
                </c:pt>
              </c:strCache>
            </c:strRef>
          </c:tx>
          <c:spPr>
            <a:solidFill>
              <a:srgbClr val="2364A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Bar</c:v>
                </c:pt>
                <c:pt idx="1">
                  <c:v>Club</c:v>
                </c:pt>
                <c:pt idx="2">
                  <c:v>Hotel</c:v>
                </c:pt>
                <c:pt idx="3">
                  <c:v>Restaurant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42343</c:v>
                </c:pt>
                <c:pt idx="1">
                  <c:v>65011</c:v>
                </c:pt>
                <c:pt idx="2">
                  <c:v>55704</c:v>
                </c:pt>
                <c:pt idx="3">
                  <c:v>56160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41793024"/>
        <c:axId val="41794560"/>
      </c:barChart>
      <c:catAx>
        <c:axId val="4179302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41794560"/>
        <c:crosses val="autoZero"/>
        <c:auto val="1"/>
        <c:lblAlgn val="ctr"/>
        <c:lblOffset val="100"/>
        <c:noMultiLvlLbl val="1"/>
      </c:catAx>
      <c:valAx>
        <c:axId val="41794560"/>
        <c:scaling>
          <c:orientation val="minMax"/>
          <c:max val="7000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41793024"/>
        <c:crosses val="autoZero"/>
        <c:crossBetween val="between"/>
        <c:majorUnit val="15000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Available</c:v>
                </c:pt>
              </c:strCache>
            </c:strRef>
          </c:tx>
          <c:spPr>
            <a:solidFill>
              <a:srgbClr val="18A99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Regular</c:v>
                </c:pt>
                <c:pt idx="1">
                  <c:v>Sugar free</c:v>
                </c:pt>
                <c:pt idx="2">
                  <c:v>Yellow Edition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60</c:v>
                </c:pt>
                <c:pt idx="1">
                  <c:v>48</c:v>
                </c:pt>
                <c:pt idx="2">
                  <c:v>30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Not available</c:v>
                </c:pt>
              </c:strCache>
            </c:strRef>
          </c:tx>
          <c:spPr>
            <a:solidFill>
              <a:srgbClr val="E21B2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Regular</c:v>
                </c:pt>
                <c:pt idx="1">
                  <c:v>Sugar free</c:v>
                </c:pt>
                <c:pt idx="2">
                  <c:v>Yellow Edition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</c:v>
                </c:pt>
                <c:pt idx="1">
                  <c:v>12</c:v>
                </c:pt>
                <c:pt idx="2">
                  <c:v>30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41519360"/>
        <c:axId val="41533440"/>
      </c:barChart>
      <c:catAx>
        <c:axId val="4151936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41533440"/>
        <c:crosses val="autoZero"/>
        <c:auto val="1"/>
        <c:lblAlgn val="ctr"/>
        <c:lblOffset val="100"/>
        <c:noMultiLvlLbl val="1"/>
      </c:catAx>
      <c:valAx>
        <c:axId val="41533440"/>
        <c:scaling>
          <c:orientation val="minMax"/>
          <c:max val="6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41519360"/>
        <c:crosses val="autoZero"/>
        <c:crossBetween val="between"/>
        <c:majorUnit val="15"/>
      </c:valAx>
      <c:spPr>
        <a:noFill/>
        <a:ln>
          <a:noFill/>
        </a:ln>
        <a:effectLst/>
      </c:spPr>
    </c:plotArea>
    <c:legend>
      <c:legendPos val="b"/>
      <c:layout/>
      <c:overlay val="0"/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Participated</c:v>
                </c:pt>
              </c:strCache>
            </c:strRef>
          </c:tx>
          <c:spPr>
            <a:solidFill>
              <a:srgbClr val="2364A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Cooler</c:v>
                </c:pt>
                <c:pt idx="1">
                  <c:v>Digital screen</c:v>
                </c:pt>
                <c:pt idx="2">
                  <c:v>Menu inclusion</c:v>
                </c:pt>
                <c:pt idx="3">
                  <c:v>Poster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26</c:v>
                </c:pt>
                <c:pt idx="1">
                  <c:v>20</c:v>
                </c:pt>
                <c:pt idx="2">
                  <c:v>42</c:v>
                </c:pt>
                <c:pt idx="3">
                  <c:v>17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Did not participate</c:v>
                </c:pt>
              </c:strCache>
            </c:strRef>
          </c:tx>
          <c:spPr>
            <a:solidFill>
              <a:srgbClr val="C7CED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Cooler</c:v>
                </c:pt>
                <c:pt idx="1">
                  <c:v>Digital screen</c:v>
                </c:pt>
                <c:pt idx="2">
                  <c:v>Menu inclusion</c:v>
                </c:pt>
                <c:pt idx="3">
                  <c:v>Poster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34</c:v>
                </c:pt>
                <c:pt idx="1">
                  <c:v>40</c:v>
                </c:pt>
                <c:pt idx="2">
                  <c:v>18</c:v>
                </c:pt>
                <c:pt idx="3">
                  <c:v>43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41632512"/>
        <c:axId val="41634048"/>
      </c:barChart>
      <c:catAx>
        <c:axId val="4163251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41634048"/>
        <c:crosses val="autoZero"/>
        <c:auto val="1"/>
        <c:lblAlgn val="ctr"/>
        <c:lblOffset val="100"/>
        <c:noMultiLvlLbl val="1"/>
      </c:catAx>
      <c:valAx>
        <c:axId val="41634048"/>
        <c:scaling>
          <c:orientation val="minMax"/>
          <c:max val="6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41632512"/>
        <c:crosses val="autoZero"/>
        <c:crossBetween val="between"/>
        <c:majorUnit val="15"/>
      </c:valAx>
      <c:spPr>
        <a:noFill/>
        <a:ln>
          <a:noFill/>
        </a:ln>
        <a:effectLst/>
      </c:spPr>
    </c:plotArea>
    <c:legend>
      <c:legendPos val="b"/>
      <c:layout/>
      <c:overlay val="0"/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Bar</c:v>
                </c:pt>
              </c:strCache>
            </c:strRef>
          </c:tx>
          <c:spPr>
            <a:solidFill>
              <a:srgbClr val="E21B2D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Cooler</c:v>
                </c:pt>
                <c:pt idx="1">
                  <c:v>Digital screen</c:v>
                </c:pt>
                <c:pt idx="2">
                  <c:v>Menu inclusion</c:v>
                </c:pt>
                <c:pt idx="3">
                  <c:v>Poster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</c:v>
                </c:pt>
                <c:pt idx="1">
                  <c:v>8</c:v>
                </c:pt>
                <c:pt idx="2">
                  <c:v>12</c:v>
                </c:pt>
                <c:pt idx="3">
                  <c:v>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Club</c:v>
                </c:pt>
              </c:strCache>
            </c:strRef>
          </c:tx>
          <c:spPr>
            <a:solidFill>
              <a:srgbClr val="2364AA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Cooler</c:v>
                </c:pt>
                <c:pt idx="1">
                  <c:v>Digital screen</c:v>
                </c:pt>
                <c:pt idx="2">
                  <c:v>Menu inclusion</c:v>
                </c:pt>
                <c:pt idx="3">
                  <c:v>Poster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</c:v>
                </c:pt>
                <c:pt idx="1">
                  <c:v>7</c:v>
                </c:pt>
                <c:pt idx="2">
                  <c:v>12</c:v>
                </c:pt>
                <c:pt idx="3">
                  <c:v>10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Hotel/Event Venue</c:v>
                </c:pt>
              </c:strCache>
            </c:strRef>
          </c:tx>
          <c:spPr>
            <a:solidFill>
              <a:srgbClr val="F2B705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Cooler</c:v>
                </c:pt>
                <c:pt idx="1">
                  <c:v>Digital screen</c:v>
                </c:pt>
                <c:pt idx="2">
                  <c:v>Menu inclusion</c:v>
                </c:pt>
                <c:pt idx="3">
                  <c:v>Poster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0</c:v>
                </c:pt>
                <c:pt idx="2">
                  <c:v>10</c:v>
                </c:pt>
                <c:pt idx="3">
                  <c:v>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Restaurant</c:v>
                </c:pt>
              </c:strCache>
            </c:strRef>
          </c:tx>
          <c:spPr>
            <a:solidFill>
              <a:srgbClr val="18A999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Cooler</c:v>
                </c:pt>
                <c:pt idx="1">
                  <c:v>Digital screen</c:v>
                </c:pt>
                <c:pt idx="2">
                  <c:v>Menu inclusion</c:v>
                </c:pt>
                <c:pt idx="3">
                  <c:v>Poster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8</c:v>
                </c:pt>
                <c:pt idx="1">
                  <c:v>5</c:v>
                </c:pt>
                <c:pt idx="2">
                  <c:v>8</c:v>
                </c:pt>
                <c:pt idx="3">
                  <c:v>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25376000"/>
        <c:axId val="125377536"/>
      </c:barChart>
      <c:catAx>
        <c:axId val="12537600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125377536"/>
        <c:crosses val="autoZero"/>
        <c:auto val="1"/>
        <c:lblAlgn val="ctr"/>
        <c:lblOffset val="100"/>
        <c:noMultiLvlLbl val="1"/>
      </c:catAx>
      <c:valAx>
        <c:axId val="125377536"/>
        <c:scaling>
          <c:orientation val="minMax"/>
          <c:max val="14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125376000"/>
        <c:crosses val="autoZero"/>
        <c:crossBetween val="between"/>
        <c:majorUnit val="2"/>
      </c:valAx>
      <c:spPr>
        <a:noFill/>
        <a:ln>
          <a:noFill/>
        </a:ln>
        <a:effectLst/>
      </c:spPr>
    </c:plotArea>
    <c:legend>
      <c:legendPos val="b"/>
      <c:layout/>
      <c:overlay val="0"/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981D41-ABA4-4EC5-B95E-05459C00333E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3335E4-6C83-4984-8034-4516F5A43F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15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8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868680"/>
            <a:ext cx="1920240" cy="0"/>
          </a:xfrm>
          <a:prstGeom prst="line">
            <a:avLst/>
          </a:prstGeom>
          <a:noFill/>
          <a:ln w="50800">
            <a:solidFill>
              <a:srgbClr val="E21B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1325880"/>
            <a:ext cx="66751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Sales Data</a:t>
            </a:r>
            <a:endParaRPr lang="en-US" sz="5200" dirty="0"/>
          </a:p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Analysis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640080" y="2971800"/>
            <a:ext cx="5989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CE2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2017–2021 account performance, product availability and promotion coverage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571500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DD6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by </a:t>
            </a:r>
            <a:r>
              <a:rPr lang="en-US" sz="1200" dirty="0" smtClean="0">
                <a:solidFill>
                  <a:srgbClr val="CDD6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Esther </a:t>
            </a:r>
            <a:r>
              <a:rPr lang="en-US" sz="1200" dirty="0" err="1" smtClean="0">
                <a:solidFill>
                  <a:srgbClr val="CDD6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Oyeniyi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452360" y="1481328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000" b="1" dirty="0">
                <a:solidFill>
                  <a:srgbClr val="F2B70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1,480,848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8138160" y="2148840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DCE2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sales volume</a:t>
            </a:r>
            <a:endParaRPr lang="en-US" sz="130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8092440" y="2788920"/>
          <a:ext cx="2514600" cy="2514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Text 6"/>
          <p:cNvSpPr/>
          <p:nvPr/>
        </p:nvSpPr>
        <p:spPr>
          <a:xfrm>
            <a:off x="7726680" y="5440680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AB5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Account-type mix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018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the analysis answers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778240" y="393192"/>
            <a:ext cx="25603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scope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822960"/>
            <a:ext cx="11183112" cy="0"/>
          </a:xfrm>
          <a:prstGeom prst="line">
            <a:avLst/>
          </a:prstGeom>
          <a:noFill/>
          <a:ln w="9525">
            <a:solidFill>
              <a:srgbClr val="DCE2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92840" y="644652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3A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6455664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 smtClean="0">
                <a:solidFill>
                  <a:srgbClr val="9AA3A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Sales Performance and Promotion Analysis</a:t>
            </a:r>
          </a:p>
        </p:txBody>
      </p:sp>
      <p:sp>
        <p:nvSpPr>
          <p:cNvPr id="7" name="Text 5"/>
          <p:cNvSpPr/>
          <p:nvPr/>
        </p:nvSpPr>
        <p:spPr>
          <a:xfrm>
            <a:off x="658368" y="1161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E21B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234440" y="1143000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18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sales volume by account type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1453896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2017 to 2021, compare Bar, Club, Hotel/Event Venue and Restaurant.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58368" y="2121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2364A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234440" y="2103120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18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and worst performing accounts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34440" y="2414016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Identify account-type winners and laggards using five-year growth signals.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58368" y="3081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8A99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1234440" y="3063240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18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 availability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34440" y="3374136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 whether regular, sugar free and yellow edition products are consistently available.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58368" y="4041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2B70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1234440" y="4023360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18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Promotion coverage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34440" y="4334256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the reach of cooler, digital screen, menu inclusion and poster promotions.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19088" y="1207008"/>
            <a:ext cx="0" cy="3977640"/>
          </a:xfrm>
          <a:prstGeom prst="line">
            <a:avLst/>
          </a:prstGeom>
          <a:noFill/>
          <a:ln w="15240">
            <a:solidFill>
              <a:srgbClr val="DCE2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03720" y="114300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18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Analysis stack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903720" y="1655064"/>
            <a:ext cx="0" cy="649224"/>
          </a:xfrm>
          <a:prstGeom prst="line">
            <a:avLst/>
          </a:prstGeom>
          <a:noFill/>
          <a:ln w="27940">
            <a:solidFill>
              <a:srgbClr val="E21B2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68312" y="1600200"/>
            <a:ext cx="4041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 smtClean="0">
                <a:solidFill>
                  <a:srgbClr val="1018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Tool Utilized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068312" y="1947672"/>
            <a:ext cx="4041648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Microsoft Excel and Power Query were used for the analysis workflow.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903720" y="2706624"/>
            <a:ext cx="0" cy="1152144"/>
          </a:xfrm>
          <a:prstGeom prst="line">
            <a:avLst/>
          </a:prstGeom>
          <a:noFill/>
          <a:ln w="27940">
            <a:solidFill>
              <a:srgbClr val="2364A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068312" y="2651760"/>
            <a:ext cx="4178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18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 orientation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068312" y="2999232"/>
            <a:ext cx="4178808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</a:t>
            </a:r>
            <a:r>
              <a:rPr lang="en-US" sz="1150" dirty="0" smtClean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indings were framed as </a:t>
            </a:r>
            <a:r>
              <a:rPr lang="en-US" sz="11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management decisions: where sales came from, what grew, where product coverage is incomplete and which promotions need deeper validation.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903720" y="4425696"/>
            <a:ext cx="0" cy="786384"/>
          </a:xfrm>
          <a:prstGeom prst="line">
            <a:avLst/>
          </a:prstGeom>
          <a:noFill/>
          <a:ln w="27940">
            <a:solidFill>
              <a:srgbClr val="18A99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068312" y="4370832"/>
            <a:ext cx="4178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18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Important caveat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068312" y="4718304"/>
            <a:ext cx="4178808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Promotion findings are directional. Participation does not prove causality; the recommendation is to run further effectiveness modelling.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018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Executive snapshot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778240" y="393192"/>
            <a:ext cx="25603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figures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822960"/>
            <a:ext cx="11183112" cy="0"/>
          </a:xfrm>
          <a:prstGeom prst="line">
            <a:avLst/>
          </a:prstGeom>
          <a:noFill/>
          <a:ln w="9525">
            <a:solidFill>
              <a:srgbClr val="DCE2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92840" y="644652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3A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85800" y="114300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018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1,480,848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85800" y="1709928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sales volume, 2017–2021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749040" y="11430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364A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Club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749040" y="170992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Highest account type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749040" y="2020824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408,515 sales volume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263640" y="11430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8A99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70%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6263640" y="170992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Menu inclusion reach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263640" y="2020824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42 of 60 sales points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8732520" y="11430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21B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50%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8732520" y="170992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 gap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732520" y="2020824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yellow edition availability</a:t>
            </a:r>
            <a:endParaRPr lang="en-US" sz="950" dirty="0"/>
          </a:p>
        </p:txBody>
      </p:sp>
      <p:graphicFrame>
        <p:nvGraphicFramePr>
          <p:cNvPr id="18" name="Chart 0"/>
          <p:cNvGraphicFramePr/>
          <p:nvPr/>
        </p:nvGraphicFramePr>
        <p:xfrm>
          <a:off x="731520" y="2971800"/>
          <a:ext cx="5303520" cy="2606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9" name="Text 16"/>
          <p:cNvSpPr/>
          <p:nvPr/>
        </p:nvSpPr>
        <p:spPr>
          <a:xfrm>
            <a:off x="731520" y="265176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2017 versus 2021 sales volume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6537960" y="3026664"/>
            <a:ext cx="0" cy="786384"/>
          </a:xfrm>
          <a:prstGeom prst="line">
            <a:avLst/>
          </a:prstGeom>
          <a:noFill/>
          <a:ln w="27940">
            <a:solidFill>
              <a:srgbClr val="2364A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702552" y="2971800"/>
            <a:ext cx="4407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18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story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6702552" y="3319272"/>
            <a:ext cx="4407408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account type grew strongly between 2017 and 2021, but Club finished as the highest-volume channel while Restaurant followed closely.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6537960" y="4187952"/>
            <a:ext cx="0" cy="786384"/>
          </a:xfrm>
          <a:prstGeom prst="line">
            <a:avLst/>
          </a:prstGeom>
          <a:noFill/>
          <a:ln w="27940">
            <a:solidFill>
              <a:srgbClr val="E21B2D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702552" y="4133088"/>
            <a:ext cx="4407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18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Execution gap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6702552" y="4480560"/>
            <a:ext cx="4407408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 consistency remains an issue: regular is universal, but sugar free misses 12 accounts and yellow edition reaches only half of accounts.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6537960" y="5340096"/>
            <a:ext cx="0" cy="713232"/>
          </a:xfrm>
          <a:prstGeom prst="line">
            <a:avLst/>
          </a:prstGeom>
          <a:noFill/>
          <a:ln w="27940">
            <a:solidFill>
              <a:srgbClr val="F2B705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702552" y="5285232"/>
            <a:ext cx="4407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18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Promotion question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6702552" y="5632704"/>
            <a:ext cx="4407408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Bars participated heavily in promotions but still showed weaker relative outcomes, making them the priority for deeper promotion-effectiveness analysis.</a:t>
            </a:r>
            <a:endParaRPr lang="en-US" sz="1150" dirty="0"/>
          </a:p>
        </p:txBody>
      </p:sp>
      <p:sp>
        <p:nvSpPr>
          <p:cNvPr id="30" name="Text 4"/>
          <p:cNvSpPr/>
          <p:nvPr/>
        </p:nvSpPr>
        <p:spPr>
          <a:xfrm>
            <a:off x="502920" y="6455664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 smtClean="0">
                <a:solidFill>
                  <a:srgbClr val="9AA3A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Sales Performance and Promotion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018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Total sales volume by account type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778240" y="393192"/>
            <a:ext cx="25603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2017–2021 totals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822960"/>
            <a:ext cx="11183112" cy="0"/>
          </a:xfrm>
          <a:prstGeom prst="line">
            <a:avLst/>
          </a:prstGeom>
          <a:noFill/>
          <a:ln w="9525">
            <a:solidFill>
              <a:srgbClr val="DCE2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92840" y="644652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3A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5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685800" y="1234440"/>
          <a:ext cx="6537960" cy="4343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 5"/>
          <p:cNvSpPr/>
          <p:nvPr/>
        </p:nvSpPr>
        <p:spPr>
          <a:xfrm>
            <a:off x="7726680" y="129844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18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 of total sales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726680" y="1755648"/>
            <a:ext cx="1325880" cy="267371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93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Account type</a:t>
            </a:r>
            <a:endParaRPr lang="en-US" sz="930" dirty="0"/>
          </a:p>
        </p:txBody>
      </p:sp>
      <p:sp>
        <p:nvSpPr>
          <p:cNvPr id="10" name="Text 7"/>
          <p:cNvSpPr/>
          <p:nvPr/>
        </p:nvSpPr>
        <p:spPr>
          <a:xfrm>
            <a:off x="9052560" y="1755648"/>
            <a:ext cx="1234440" cy="267371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Volume</a:t>
            </a:r>
            <a:endParaRPr lang="en-US" sz="930" dirty="0"/>
          </a:p>
        </p:txBody>
      </p:sp>
      <p:sp>
        <p:nvSpPr>
          <p:cNvPr id="11" name="Text 8"/>
          <p:cNvSpPr/>
          <p:nvPr/>
        </p:nvSpPr>
        <p:spPr>
          <a:xfrm>
            <a:off x="10287000" y="1755648"/>
            <a:ext cx="868680" cy="267371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</a:t>
            </a:r>
            <a:endParaRPr lang="en-US" sz="930" dirty="0"/>
          </a:p>
        </p:txBody>
      </p:sp>
      <p:sp>
        <p:nvSpPr>
          <p:cNvPr id="12" name="Shape 9"/>
          <p:cNvSpPr/>
          <p:nvPr/>
        </p:nvSpPr>
        <p:spPr>
          <a:xfrm>
            <a:off x="7726680" y="2066544"/>
            <a:ext cx="3429000" cy="0"/>
          </a:xfrm>
          <a:prstGeom prst="line">
            <a:avLst/>
          </a:prstGeom>
          <a:noFill/>
          <a:ln w="9525">
            <a:solidFill>
              <a:srgbClr val="DCE2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726680" y="2066544"/>
            <a:ext cx="1325880" cy="267371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970" dirty="0">
                <a:solidFill>
                  <a:srgbClr val="1018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Bar</a:t>
            </a:r>
            <a:endParaRPr lang="en-US" sz="970" dirty="0"/>
          </a:p>
        </p:txBody>
      </p:sp>
      <p:sp>
        <p:nvSpPr>
          <p:cNvPr id="14" name="Text 11"/>
          <p:cNvSpPr/>
          <p:nvPr/>
        </p:nvSpPr>
        <p:spPr>
          <a:xfrm>
            <a:off x="9052560" y="2066544"/>
            <a:ext cx="1234440" cy="267371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70" dirty="0">
                <a:solidFill>
                  <a:srgbClr val="1018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342,823</a:t>
            </a:r>
            <a:endParaRPr lang="en-US" sz="970" dirty="0"/>
          </a:p>
        </p:txBody>
      </p:sp>
      <p:sp>
        <p:nvSpPr>
          <p:cNvPr id="15" name="Text 12"/>
          <p:cNvSpPr/>
          <p:nvPr/>
        </p:nvSpPr>
        <p:spPr>
          <a:xfrm>
            <a:off x="10287000" y="2066544"/>
            <a:ext cx="868680" cy="267371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70" dirty="0">
                <a:solidFill>
                  <a:srgbClr val="1018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23.2%</a:t>
            </a:r>
            <a:endParaRPr lang="en-US" sz="970" dirty="0"/>
          </a:p>
        </p:txBody>
      </p:sp>
      <p:sp>
        <p:nvSpPr>
          <p:cNvPr id="16" name="Text 13"/>
          <p:cNvSpPr/>
          <p:nvPr/>
        </p:nvSpPr>
        <p:spPr>
          <a:xfrm>
            <a:off x="7726680" y="2377440"/>
            <a:ext cx="1325880" cy="267371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970" dirty="0">
                <a:solidFill>
                  <a:srgbClr val="1018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Club</a:t>
            </a:r>
            <a:endParaRPr lang="en-US" sz="970" dirty="0"/>
          </a:p>
        </p:txBody>
      </p:sp>
      <p:sp>
        <p:nvSpPr>
          <p:cNvPr id="17" name="Text 14"/>
          <p:cNvSpPr/>
          <p:nvPr/>
        </p:nvSpPr>
        <p:spPr>
          <a:xfrm>
            <a:off x="9052560" y="2377440"/>
            <a:ext cx="1234440" cy="267371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70" dirty="0">
                <a:solidFill>
                  <a:srgbClr val="1018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408,515</a:t>
            </a:r>
            <a:endParaRPr lang="en-US" sz="970" dirty="0"/>
          </a:p>
        </p:txBody>
      </p:sp>
      <p:sp>
        <p:nvSpPr>
          <p:cNvPr id="18" name="Text 15"/>
          <p:cNvSpPr/>
          <p:nvPr/>
        </p:nvSpPr>
        <p:spPr>
          <a:xfrm>
            <a:off x="10287000" y="2377440"/>
            <a:ext cx="868680" cy="267371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70" dirty="0">
                <a:solidFill>
                  <a:srgbClr val="1018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27.6%</a:t>
            </a:r>
            <a:endParaRPr lang="en-US" sz="970" dirty="0"/>
          </a:p>
        </p:txBody>
      </p:sp>
      <p:sp>
        <p:nvSpPr>
          <p:cNvPr id="19" name="Text 16"/>
          <p:cNvSpPr/>
          <p:nvPr/>
        </p:nvSpPr>
        <p:spPr>
          <a:xfrm>
            <a:off x="7726680" y="2688336"/>
            <a:ext cx="1325880" cy="267371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970" dirty="0">
                <a:solidFill>
                  <a:srgbClr val="1018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Hotel</a:t>
            </a:r>
            <a:endParaRPr lang="en-US" sz="970" dirty="0"/>
          </a:p>
        </p:txBody>
      </p:sp>
      <p:sp>
        <p:nvSpPr>
          <p:cNvPr id="20" name="Text 17"/>
          <p:cNvSpPr/>
          <p:nvPr/>
        </p:nvSpPr>
        <p:spPr>
          <a:xfrm>
            <a:off x="9052560" y="2688336"/>
            <a:ext cx="1234440" cy="267371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70" dirty="0">
                <a:solidFill>
                  <a:srgbClr val="1018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348,942</a:t>
            </a:r>
            <a:endParaRPr lang="en-US" sz="970" dirty="0"/>
          </a:p>
        </p:txBody>
      </p:sp>
      <p:sp>
        <p:nvSpPr>
          <p:cNvPr id="21" name="Text 18"/>
          <p:cNvSpPr/>
          <p:nvPr/>
        </p:nvSpPr>
        <p:spPr>
          <a:xfrm>
            <a:off x="10287000" y="2688336"/>
            <a:ext cx="868680" cy="267371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70" dirty="0">
                <a:solidFill>
                  <a:srgbClr val="1018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23.6%</a:t>
            </a:r>
            <a:endParaRPr lang="en-US" sz="970" dirty="0"/>
          </a:p>
        </p:txBody>
      </p:sp>
      <p:sp>
        <p:nvSpPr>
          <p:cNvPr id="22" name="Text 19"/>
          <p:cNvSpPr/>
          <p:nvPr/>
        </p:nvSpPr>
        <p:spPr>
          <a:xfrm>
            <a:off x="7726680" y="2999232"/>
            <a:ext cx="1325880" cy="267371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970" dirty="0">
                <a:solidFill>
                  <a:srgbClr val="1018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Restaurant</a:t>
            </a:r>
            <a:endParaRPr lang="en-US" sz="970" dirty="0"/>
          </a:p>
        </p:txBody>
      </p:sp>
      <p:sp>
        <p:nvSpPr>
          <p:cNvPr id="23" name="Text 20"/>
          <p:cNvSpPr/>
          <p:nvPr/>
        </p:nvSpPr>
        <p:spPr>
          <a:xfrm>
            <a:off x="9052560" y="2999232"/>
            <a:ext cx="1234440" cy="267371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70" dirty="0">
                <a:solidFill>
                  <a:srgbClr val="1018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380,568</a:t>
            </a:r>
            <a:endParaRPr lang="en-US" sz="970" dirty="0"/>
          </a:p>
        </p:txBody>
      </p:sp>
      <p:sp>
        <p:nvSpPr>
          <p:cNvPr id="24" name="Text 21"/>
          <p:cNvSpPr/>
          <p:nvPr/>
        </p:nvSpPr>
        <p:spPr>
          <a:xfrm>
            <a:off x="10287000" y="2999232"/>
            <a:ext cx="868680" cy="267371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70" dirty="0">
                <a:solidFill>
                  <a:srgbClr val="1018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25.7%</a:t>
            </a:r>
            <a:endParaRPr lang="en-US" sz="970" dirty="0"/>
          </a:p>
        </p:txBody>
      </p:sp>
      <p:sp>
        <p:nvSpPr>
          <p:cNvPr id="25" name="Shape 22"/>
          <p:cNvSpPr/>
          <p:nvPr/>
        </p:nvSpPr>
        <p:spPr>
          <a:xfrm>
            <a:off x="7726680" y="3310128"/>
            <a:ext cx="3429000" cy="0"/>
          </a:xfrm>
          <a:prstGeom prst="line">
            <a:avLst/>
          </a:prstGeom>
          <a:noFill/>
          <a:ln w="9525">
            <a:solidFill>
              <a:srgbClr val="DCE2EA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7726680" y="3758184"/>
            <a:ext cx="0" cy="713232"/>
          </a:xfrm>
          <a:prstGeom prst="line">
            <a:avLst/>
          </a:prstGeom>
          <a:noFill/>
          <a:ln w="27940">
            <a:solidFill>
              <a:srgbClr val="2364A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891272" y="3703320"/>
            <a:ext cx="3355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18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Highest volume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7891272" y="4050792"/>
            <a:ext cx="3355848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Club accounts generated 408,515, representing the largest share of the five-year total.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7726680" y="4791456"/>
            <a:ext cx="0" cy="713232"/>
          </a:xfrm>
          <a:prstGeom prst="line">
            <a:avLst/>
          </a:prstGeom>
          <a:noFill/>
          <a:ln w="27940">
            <a:solidFill>
              <a:srgbClr val="18A999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891272" y="4736592"/>
            <a:ext cx="3355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18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Close second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7891272" y="5084064"/>
            <a:ext cx="3355848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Restaurant accounts reached 380,568, keeping them within a commercially important range of Clubs.</a:t>
            </a:r>
            <a:endParaRPr lang="en-US" sz="1150" dirty="0"/>
          </a:p>
        </p:txBody>
      </p:sp>
      <p:sp>
        <p:nvSpPr>
          <p:cNvPr id="32" name="Text 4"/>
          <p:cNvSpPr/>
          <p:nvPr/>
        </p:nvSpPr>
        <p:spPr>
          <a:xfrm>
            <a:off x="502920" y="6455664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 smtClean="0">
                <a:solidFill>
                  <a:srgbClr val="9AA3A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Sales Performance and Promotion Analysis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018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Annual sales trend by account type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778240" y="393192"/>
            <a:ext cx="25603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2017–2021 trajectory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822960"/>
            <a:ext cx="11183112" cy="0"/>
          </a:xfrm>
          <a:prstGeom prst="line">
            <a:avLst/>
          </a:prstGeom>
          <a:noFill/>
          <a:ln w="9525">
            <a:solidFill>
              <a:srgbClr val="DCE2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92840" y="644652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3A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85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685800" y="1234440"/>
          <a:ext cx="749808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 5"/>
          <p:cNvSpPr/>
          <p:nvPr/>
        </p:nvSpPr>
        <p:spPr>
          <a:xfrm>
            <a:off x="8732520" y="132588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18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Growth summary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732520" y="1783080"/>
            <a:ext cx="1005840" cy="267371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Type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9738360" y="1783080"/>
            <a:ext cx="713232" cy="267371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CAGR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0451592" y="1783080"/>
            <a:ext cx="914400" cy="267371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Net gain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8732520" y="2093976"/>
            <a:ext cx="2633472" cy="0"/>
          </a:xfrm>
          <a:prstGeom prst="line">
            <a:avLst/>
          </a:prstGeom>
          <a:noFill/>
          <a:ln w="9525">
            <a:solidFill>
              <a:srgbClr val="DCE2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732520" y="2093976"/>
            <a:ext cx="1005840" cy="267371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1018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Bar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9738360" y="2093976"/>
            <a:ext cx="713232" cy="267371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018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16.1%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10451592" y="2093976"/>
            <a:ext cx="914400" cy="267371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018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42,343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8732520" y="2404872"/>
            <a:ext cx="1005840" cy="267371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1018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Club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9738360" y="2404872"/>
            <a:ext cx="713232" cy="267371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018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24.1%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10451592" y="2404872"/>
            <a:ext cx="914400" cy="267371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018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65,011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8732520" y="2715768"/>
            <a:ext cx="1005840" cy="267371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1018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Hotel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9738360" y="2715768"/>
            <a:ext cx="713232" cy="267371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018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22.4%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10451592" y="2715768"/>
            <a:ext cx="914400" cy="267371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018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55,704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8732520" y="3026664"/>
            <a:ext cx="1005840" cy="267371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1018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Restaurant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9738360" y="3026664"/>
            <a:ext cx="713232" cy="267371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018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22.1%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10451592" y="3026664"/>
            <a:ext cx="914400" cy="267371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018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56,160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8732520" y="3337560"/>
            <a:ext cx="2633472" cy="0"/>
          </a:xfrm>
          <a:prstGeom prst="line">
            <a:avLst/>
          </a:prstGeom>
          <a:noFill/>
          <a:ln w="9525">
            <a:solidFill>
              <a:srgbClr val="DCE2EA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8732520" y="3986784"/>
            <a:ext cx="0" cy="850392"/>
          </a:xfrm>
          <a:prstGeom prst="line">
            <a:avLst/>
          </a:prstGeom>
          <a:noFill/>
          <a:ln w="27940">
            <a:solidFill>
              <a:srgbClr val="2364A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8897112" y="3931920"/>
            <a:ext cx="244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18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Trajectory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8897112" y="4279392"/>
            <a:ext cx="2441448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Club and Restaurant made the strongest volume leap after 2018 and remained ahead through 2021.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8732520" y="5193792"/>
            <a:ext cx="0" cy="758952"/>
          </a:xfrm>
          <a:prstGeom prst="line">
            <a:avLst/>
          </a:prstGeom>
          <a:noFill/>
          <a:ln w="27940">
            <a:solidFill>
              <a:srgbClr val="F2B705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8897112" y="5138928"/>
            <a:ext cx="244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18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Hotel recovery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8897112" y="5486400"/>
            <a:ext cx="2441448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Hotel/Event Venue started from the lowest base in 2017 but closed the gap steadily by 2021.</a:t>
            </a:r>
            <a:endParaRPr lang="en-US" sz="1150" dirty="0"/>
          </a:p>
        </p:txBody>
      </p:sp>
      <p:sp>
        <p:nvSpPr>
          <p:cNvPr id="32" name="Text 4"/>
          <p:cNvSpPr/>
          <p:nvPr/>
        </p:nvSpPr>
        <p:spPr>
          <a:xfrm>
            <a:off x="502920" y="6455664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 smtClean="0">
                <a:solidFill>
                  <a:srgbClr val="9AA3A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Sales Performance and Promotion Analysis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018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</a:t>
            </a:r>
            <a:r>
              <a:rPr lang="en-US" sz="2800" b="1" dirty="0" smtClean="0">
                <a:solidFill>
                  <a:srgbClr val="1018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rowth Overview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778240" y="393192"/>
            <a:ext cx="25603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Start-to-end movement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822960"/>
            <a:ext cx="11183112" cy="0"/>
          </a:xfrm>
          <a:prstGeom prst="line">
            <a:avLst/>
          </a:prstGeom>
          <a:noFill/>
          <a:ln w="9525">
            <a:solidFill>
              <a:srgbClr val="DCE2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92840" y="644652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3A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85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685800" y="1325880"/>
          <a:ext cx="5669280" cy="4069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 5"/>
          <p:cNvSpPr/>
          <p:nvPr/>
        </p:nvSpPr>
        <p:spPr>
          <a:xfrm>
            <a:off x="6812280" y="129844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18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2021 endpoint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812280" y="173736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18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Bar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138160" y="173736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51,804 → 94,147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0424160" y="17373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21B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+42,343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812280" y="256032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18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Club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138160" y="25603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47,259 → 112,270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0424160" y="2560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364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+65,011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812280" y="338328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18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Hotel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8138160" y="338328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44,888 → 100,592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0424160" y="33832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2B70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+55,704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812280" y="420624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18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Restaurant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8138160" y="420624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46,025 → 102,185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10424160" y="42062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8A9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+56,160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6812280" y="5221224"/>
            <a:ext cx="0" cy="667512"/>
          </a:xfrm>
          <a:prstGeom prst="line">
            <a:avLst/>
          </a:prstGeom>
          <a:noFill/>
          <a:ln w="27940">
            <a:solidFill>
              <a:srgbClr val="E21B2D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976872" y="5166360"/>
            <a:ext cx="4133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18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Interpretation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6976872" y="5513832"/>
            <a:ext cx="4133088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data show broad-based sales expansion. The sharpest growth came from Club, which moved from second-lowest in 2017 to highest in 2021.</a:t>
            </a:r>
            <a:endParaRPr lang="en-US" sz="1150" dirty="0"/>
          </a:p>
        </p:txBody>
      </p:sp>
      <p:sp>
        <p:nvSpPr>
          <p:cNvPr id="24" name="Text 4"/>
          <p:cNvSpPr/>
          <p:nvPr/>
        </p:nvSpPr>
        <p:spPr>
          <a:xfrm>
            <a:off x="502920" y="6455664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 smtClean="0">
                <a:solidFill>
                  <a:srgbClr val="9AA3A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Sales Performance and Promotion Analysis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018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Account-level CAGR: Bar and Club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778240" y="393192"/>
            <a:ext cx="25603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and worst accounts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822960"/>
            <a:ext cx="11183112" cy="0"/>
          </a:xfrm>
          <a:prstGeom prst="line">
            <a:avLst/>
          </a:prstGeom>
          <a:noFill/>
          <a:ln w="9525">
            <a:solidFill>
              <a:srgbClr val="DCE2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92840" y="644652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3A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6455664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 smtClean="0">
                <a:solidFill>
                  <a:srgbClr val="9AA3A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Sales Performance and Promotion Analysis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822960" y="11430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8A9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2 accounts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29400" y="11430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21B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Bottom 2 accounts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1691640"/>
            <a:ext cx="2011680" cy="377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Account type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834640" y="1691640"/>
            <a:ext cx="1143000" cy="377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1st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977640" y="1691640"/>
            <a:ext cx="1143000" cy="377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2nd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22960" y="2130552"/>
            <a:ext cx="4297680" cy="0"/>
          </a:xfrm>
          <a:prstGeom prst="line">
            <a:avLst/>
          </a:prstGeom>
          <a:noFill/>
          <a:ln w="9525">
            <a:solidFill>
              <a:srgbClr val="DCE2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2130552"/>
            <a:ext cx="2011680" cy="377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1018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Bar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834640" y="2130552"/>
            <a:ext cx="1143000" cy="377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1018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977640" y="2130552"/>
            <a:ext cx="1143000" cy="377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1018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22960" y="2569464"/>
            <a:ext cx="2011680" cy="377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1018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Club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834640" y="2569464"/>
            <a:ext cx="1143000" cy="377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1018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977640" y="2569464"/>
            <a:ext cx="1143000" cy="377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1018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822960" y="3008376"/>
            <a:ext cx="4297680" cy="0"/>
          </a:xfrm>
          <a:prstGeom prst="line">
            <a:avLst/>
          </a:prstGeom>
          <a:noFill/>
          <a:ln w="9525">
            <a:solidFill>
              <a:srgbClr val="DCE2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29400" y="1691640"/>
            <a:ext cx="2011680" cy="377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Account type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641080" y="1691640"/>
            <a:ext cx="1143000" cy="377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1st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784080" y="1691640"/>
            <a:ext cx="1143000" cy="377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2nd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629400" y="2130552"/>
            <a:ext cx="4297680" cy="0"/>
          </a:xfrm>
          <a:prstGeom prst="line">
            <a:avLst/>
          </a:prstGeom>
          <a:noFill/>
          <a:ln w="9525">
            <a:solidFill>
              <a:srgbClr val="DCE2E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29400" y="2130552"/>
            <a:ext cx="2011680" cy="377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1018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Bar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8641080" y="2130552"/>
            <a:ext cx="1143000" cy="377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1018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9784080" y="2130552"/>
            <a:ext cx="1143000" cy="377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1018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629400" y="2569464"/>
            <a:ext cx="2011680" cy="377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1018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Club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8641080" y="2569464"/>
            <a:ext cx="1143000" cy="377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1018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9784080" y="2569464"/>
            <a:ext cx="1143000" cy="377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1018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6629400" y="3008376"/>
            <a:ext cx="4297680" cy="0"/>
          </a:xfrm>
          <a:prstGeom prst="line">
            <a:avLst/>
          </a:prstGeom>
          <a:noFill/>
          <a:ln w="9525">
            <a:solidFill>
              <a:srgbClr val="DCE2E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22960" y="3941064"/>
            <a:ext cx="0" cy="758952"/>
          </a:xfrm>
          <a:prstGeom prst="line">
            <a:avLst/>
          </a:prstGeom>
          <a:noFill/>
          <a:ln w="27940">
            <a:solidFill>
              <a:srgbClr val="18A99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87552" y="3886200"/>
            <a:ext cx="4315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18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Bar concentration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987552" y="4233672"/>
            <a:ext cx="4315968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Bar 13 led the category growth signal, while Bar 7 and Bar 15 recorded the steepest negative signals in the original analysis.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629400" y="3941064"/>
            <a:ext cx="0" cy="758952"/>
          </a:xfrm>
          <a:prstGeom prst="line">
            <a:avLst/>
          </a:prstGeom>
          <a:noFill/>
          <a:ln w="27940">
            <a:solidFill>
              <a:srgbClr val="2364A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793992" y="3886200"/>
            <a:ext cx="4315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18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Club momentum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793992" y="4233672"/>
            <a:ext cx="4315968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Club 2 and Club 10 were the strongest growth accounts; Club 8 and Club 11 need attention.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1188720" y="5486400"/>
            <a:ext cx="9784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18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 lens: double down on high-growth account behavior, then diagnose the bottom accounts by product availability, footfall and promotion fit.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0060" y="91440"/>
            <a:ext cx="8138160" cy="701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018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Account-level CAGR: Restaurant and Hotel/Event Venue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778240" y="393192"/>
            <a:ext cx="25603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and worst accounts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822960"/>
            <a:ext cx="11183112" cy="0"/>
          </a:xfrm>
          <a:prstGeom prst="line">
            <a:avLst/>
          </a:prstGeom>
          <a:noFill/>
          <a:ln w="9525">
            <a:solidFill>
              <a:srgbClr val="DCE2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92840" y="644652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3A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822960" y="11430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8A9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2 accounts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29400" y="11430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21B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Bottom 2 accounts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1691640"/>
            <a:ext cx="2011680" cy="377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Account type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834640" y="1691640"/>
            <a:ext cx="1143000" cy="377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1st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977640" y="1691640"/>
            <a:ext cx="1143000" cy="377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2nd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22960" y="2130552"/>
            <a:ext cx="4297680" cy="0"/>
          </a:xfrm>
          <a:prstGeom prst="line">
            <a:avLst/>
          </a:prstGeom>
          <a:noFill/>
          <a:ln w="9525">
            <a:solidFill>
              <a:srgbClr val="DCE2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2130552"/>
            <a:ext cx="2011680" cy="377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1018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Restaurant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834640" y="2130552"/>
            <a:ext cx="1143000" cy="377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1018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977640" y="2130552"/>
            <a:ext cx="1143000" cy="377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1018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22960" y="2569464"/>
            <a:ext cx="2011680" cy="377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1018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Hotel/Event Venue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834640" y="2569464"/>
            <a:ext cx="1143000" cy="377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1018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977640" y="2569464"/>
            <a:ext cx="1143000" cy="377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1018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822960" y="3008376"/>
            <a:ext cx="4297680" cy="0"/>
          </a:xfrm>
          <a:prstGeom prst="line">
            <a:avLst/>
          </a:prstGeom>
          <a:noFill/>
          <a:ln w="9525">
            <a:solidFill>
              <a:srgbClr val="DCE2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29400" y="1691640"/>
            <a:ext cx="2011680" cy="377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Account type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641080" y="1691640"/>
            <a:ext cx="1143000" cy="377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1st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784080" y="1691640"/>
            <a:ext cx="1143000" cy="377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2nd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629400" y="2130552"/>
            <a:ext cx="4297680" cy="0"/>
          </a:xfrm>
          <a:prstGeom prst="line">
            <a:avLst/>
          </a:prstGeom>
          <a:noFill/>
          <a:ln w="9525">
            <a:solidFill>
              <a:srgbClr val="DCE2E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29400" y="2130552"/>
            <a:ext cx="2011680" cy="377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1018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Restaurant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8641080" y="2130552"/>
            <a:ext cx="1143000" cy="377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1018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9784080" y="2130552"/>
            <a:ext cx="1143000" cy="377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1018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629400" y="2569464"/>
            <a:ext cx="2011680" cy="377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1018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Hotel/Event Venue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8641080" y="2569464"/>
            <a:ext cx="1143000" cy="377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1018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9784080" y="2569464"/>
            <a:ext cx="1143000" cy="377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1018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6629400" y="3008376"/>
            <a:ext cx="4297680" cy="0"/>
          </a:xfrm>
          <a:prstGeom prst="line">
            <a:avLst/>
          </a:prstGeom>
          <a:noFill/>
          <a:ln w="9525">
            <a:solidFill>
              <a:srgbClr val="DCE2E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22960" y="3941064"/>
            <a:ext cx="0" cy="804672"/>
          </a:xfrm>
          <a:prstGeom prst="line">
            <a:avLst/>
          </a:prstGeom>
          <a:noFill/>
          <a:ln w="27940">
            <a:solidFill>
              <a:srgbClr val="18A99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87552" y="3886200"/>
            <a:ext cx="4315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18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Restaurant upside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987552" y="4233672"/>
            <a:ext cx="4315968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Restaurant 5 and 12 were the strongest growth accounts, while Restaurant 8 had the largest negative signal among the bottom accounts.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629400" y="3941064"/>
            <a:ext cx="0" cy="804672"/>
          </a:xfrm>
          <a:prstGeom prst="line">
            <a:avLst/>
          </a:prstGeom>
          <a:noFill/>
          <a:ln w="27940">
            <a:solidFill>
              <a:srgbClr val="F2B70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793992" y="3886200"/>
            <a:ext cx="4315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18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Venue volatility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793992" y="4233672"/>
            <a:ext cx="4315968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Hotel/Event Venue 11 and 2 led growth, but account 1 and 4 should be reviewed for demand, activation coverage or product gaps.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1554480" y="5532120"/>
            <a:ext cx="9006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18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Account-level follow-up should separate structural issues from fixable execution gaps.</a:t>
            </a:r>
            <a:endParaRPr lang="en-US" sz="1500" dirty="0"/>
          </a:p>
        </p:txBody>
      </p:sp>
      <p:sp>
        <p:nvSpPr>
          <p:cNvPr id="38" name="Text 4"/>
          <p:cNvSpPr/>
          <p:nvPr/>
        </p:nvSpPr>
        <p:spPr>
          <a:xfrm>
            <a:off x="502920" y="6455664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 smtClean="0">
                <a:solidFill>
                  <a:srgbClr val="9AA3A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Sales Performance and Promotion Analysis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018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Product availability is not yet complete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778240" y="393192"/>
            <a:ext cx="25603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60 accounts checked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822960"/>
            <a:ext cx="11183112" cy="0"/>
          </a:xfrm>
          <a:prstGeom prst="line">
            <a:avLst/>
          </a:prstGeom>
          <a:noFill/>
          <a:ln w="9525">
            <a:solidFill>
              <a:srgbClr val="DCE2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92840" y="644652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3A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85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685800" y="1280160"/>
          <a:ext cx="6583680" cy="4069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 5"/>
          <p:cNvSpPr/>
          <p:nvPr/>
        </p:nvSpPr>
        <p:spPr>
          <a:xfrm>
            <a:off x="7818120" y="13258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8A99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100%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7818120" y="189280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Regular product availability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7818120" y="220370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 accounts in each account type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818120" y="27432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21B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12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7818120" y="331012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Sugar free gap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7818120" y="362102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accounts without the product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7818120" y="416052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21B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30</a:t>
            </a:r>
            <a:endParaRPr lang="en-US" sz="3000" dirty="0"/>
          </a:p>
        </p:txBody>
      </p:sp>
      <p:sp>
        <p:nvSpPr>
          <p:cNvPr id="15" name="Text 12"/>
          <p:cNvSpPr/>
          <p:nvPr/>
        </p:nvSpPr>
        <p:spPr>
          <a:xfrm>
            <a:off x="7818120" y="472744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Yellow edition gap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7818120" y="503834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accounts without the product</a:t>
            </a:r>
            <a:endParaRPr lang="en-US" sz="950" dirty="0"/>
          </a:p>
        </p:txBody>
      </p:sp>
      <p:sp>
        <p:nvSpPr>
          <p:cNvPr id="17" name="Text 4"/>
          <p:cNvSpPr/>
          <p:nvPr/>
        </p:nvSpPr>
        <p:spPr>
          <a:xfrm>
            <a:off x="502920" y="6455664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 smtClean="0">
                <a:solidFill>
                  <a:srgbClr val="9AA3A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Sales Performance and Promotion Analysis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018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Promotion coverage varies sharply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778240" y="393192"/>
            <a:ext cx="25603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Participation across 60 sales points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822960"/>
            <a:ext cx="11183112" cy="0"/>
          </a:xfrm>
          <a:prstGeom prst="line">
            <a:avLst/>
          </a:prstGeom>
          <a:noFill/>
          <a:ln w="9525">
            <a:solidFill>
              <a:srgbClr val="DCE2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92840" y="644652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3A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85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685800" y="1234440"/>
          <a:ext cx="6766560" cy="4251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 5"/>
          <p:cNvSpPr/>
          <p:nvPr/>
        </p:nvSpPr>
        <p:spPr>
          <a:xfrm>
            <a:off x="7909560" y="132588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8A99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Menu inclusion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7909560" y="1892808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Highest coverage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7909560" y="2203704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42 of 60 accounts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909560" y="283464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21B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Poster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7909560" y="3401568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Lowest coverage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7909560" y="3712464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 of 60 accounts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7909560" y="4672584"/>
            <a:ext cx="0" cy="758952"/>
          </a:xfrm>
          <a:prstGeom prst="line">
            <a:avLst/>
          </a:prstGeom>
          <a:noFill/>
          <a:ln w="27940">
            <a:solidFill>
              <a:srgbClr val="2364A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074152" y="4617720"/>
            <a:ext cx="3081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18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Signal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8074152" y="4965192"/>
            <a:ext cx="3081528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Menu inclusion is the broadest activation channel. Digital screen and poster coverage are narrower and uneven by account type.</a:t>
            </a:r>
            <a:endParaRPr lang="en-US" sz="1150" dirty="0"/>
          </a:p>
        </p:txBody>
      </p:sp>
      <p:sp>
        <p:nvSpPr>
          <p:cNvPr id="17" name="Text 4"/>
          <p:cNvSpPr/>
          <p:nvPr/>
        </p:nvSpPr>
        <p:spPr>
          <a:xfrm>
            <a:off x="502920" y="6455664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 smtClean="0">
                <a:solidFill>
                  <a:srgbClr val="9AA3A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Sales Performance and Promotion Analysis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018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Promotion participation by account type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778240" y="393192"/>
            <a:ext cx="25603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Where each activation reached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822960"/>
            <a:ext cx="11183112" cy="0"/>
          </a:xfrm>
          <a:prstGeom prst="line">
            <a:avLst/>
          </a:prstGeom>
          <a:noFill/>
          <a:ln w="9525">
            <a:solidFill>
              <a:srgbClr val="DCE2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92840" y="644652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3A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6455664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3A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Sales Data Analysis • Red Bull Virtual Internship</a:t>
            </a:r>
            <a:endParaRPr lang="en-US" sz="85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685800" y="1234440"/>
          <a:ext cx="7315200" cy="4343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8458200" y="1472184"/>
            <a:ext cx="0" cy="850392"/>
          </a:xfrm>
          <a:prstGeom prst="line">
            <a:avLst/>
          </a:prstGeom>
          <a:noFill/>
          <a:ln w="27940">
            <a:solidFill>
              <a:srgbClr val="F2B70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622792" y="1417320"/>
            <a:ext cx="2532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18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Hotel/Event Venue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622792" y="1764792"/>
            <a:ext cx="2532888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Promotion activity is concentrated mainly in menu inclusion, with very low or zero participation in other activation types.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8458200" y="2843784"/>
            <a:ext cx="0" cy="1060704"/>
          </a:xfrm>
          <a:prstGeom prst="line">
            <a:avLst/>
          </a:prstGeom>
          <a:noFill/>
          <a:ln w="27940">
            <a:solidFill>
              <a:srgbClr val="2364A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22792" y="2788920"/>
            <a:ext cx="2532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18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Bar and Club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8622792" y="3136392"/>
            <a:ext cx="2532888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Bars and Clubs show the broadest participation, but their outcomes differ, especially when comparing Club’s volume leadership with Bar’s weaker growth signals.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8458200" y="4462272"/>
            <a:ext cx="0" cy="850392"/>
          </a:xfrm>
          <a:prstGeom prst="line">
            <a:avLst/>
          </a:prstGeom>
          <a:noFill/>
          <a:ln w="27940">
            <a:solidFill>
              <a:srgbClr val="18A99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622792" y="4407408"/>
            <a:ext cx="2532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18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Restaurant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8622792" y="4754880"/>
            <a:ext cx="2532888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Restaurants participated in cooler, digital screen and menu inclusion, but did not participate in poster promotion.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018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Observations and key takeaways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778240" y="393192"/>
            <a:ext cx="25603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Management interpretation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822960"/>
            <a:ext cx="11183112" cy="0"/>
          </a:xfrm>
          <a:prstGeom prst="line">
            <a:avLst/>
          </a:prstGeom>
          <a:noFill/>
          <a:ln w="9525">
            <a:solidFill>
              <a:srgbClr val="DCE2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92840" y="644652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3A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777240" y="1325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21B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371600" y="1280160"/>
            <a:ext cx="4480560" cy="10241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30" dirty="0">
                <a:solidFill>
                  <a:srgbClr val="1018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Bars were highly active in promotions, but still showed weaker sales-growth signals. This makes Bar a priority for promotion-fit diagnosis rather than simply more promotion spend.</a:t>
            </a:r>
            <a:endParaRPr lang="en-US" sz="1430" dirty="0"/>
          </a:p>
        </p:txBody>
      </p:sp>
      <p:sp>
        <p:nvSpPr>
          <p:cNvPr id="9" name="Text 7"/>
          <p:cNvSpPr/>
          <p:nvPr/>
        </p:nvSpPr>
        <p:spPr>
          <a:xfrm>
            <a:off x="777240" y="3749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364A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371600" y="3703320"/>
            <a:ext cx="4480560" cy="10241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30" dirty="0">
                <a:solidFill>
                  <a:srgbClr val="1018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Club accounts participated across all promotion programs and ranked highest in sales volume, suggesting the current activation mix may be better aligned with Club demand.</a:t>
            </a:r>
            <a:endParaRPr lang="en-US" sz="1430" dirty="0"/>
          </a:p>
        </p:txBody>
      </p:sp>
      <p:sp>
        <p:nvSpPr>
          <p:cNvPr id="11" name="Text 9"/>
          <p:cNvSpPr/>
          <p:nvPr/>
        </p:nvSpPr>
        <p:spPr>
          <a:xfrm>
            <a:off x="6400800" y="1325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2B70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995160" y="1280160"/>
            <a:ext cx="4480560" cy="10241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30" dirty="0">
                <a:solidFill>
                  <a:srgbClr val="1018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Hotel/Event Venue accounts had limited activation coverage yet still moved above the lowest position, indicating a different sales dynamic that should be studied separately.</a:t>
            </a:r>
            <a:endParaRPr lang="en-US" sz="1430" dirty="0"/>
          </a:p>
        </p:txBody>
      </p:sp>
      <p:sp>
        <p:nvSpPr>
          <p:cNvPr id="13" name="Text 11"/>
          <p:cNvSpPr/>
          <p:nvPr/>
        </p:nvSpPr>
        <p:spPr>
          <a:xfrm>
            <a:off x="6400800" y="3749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8A99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995160" y="3703320"/>
            <a:ext cx="4480560" cy="10241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30" dirty="0">
                <a:solidFill>
                  <a:srgbClr val="1018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Accounts with all three products available appear better positioned than accounts with only regular products or missing product lines.</a:t>
            </a:r>
            <a:endParaRPr lang="en-US" sz="1430" dirty="0"/>
          </a:p>
        </p:txBody>
      </p:sp>
      <p:sp>
        <p:nvSpPr>
          <p:cNvPr id="15" name="Shape 13"/>
          <p:cNvSpPr/>
          <p:nvPr/>
        </p:nvSpPr>
        <p:spPr>
          <a:xfrm>
            <a:off x="6035040" y="1234440"/>
            <a:ext cx="0" cy="4343400"/>
          </a:xfrm>
          <a:prstGeom prst="line">
            <a:avLst/>
          </a:prstGeom>
          <a:noFill/>
          <a:ln w="15240">
            <a:solidFill>
              <a:srgbClr val="DCE2EA"/>
            </a:solidFill>
            <a:prstDash val="solid"/>
          </a:ln>
        </p:spPr>
      </p:sp>
      <p:sp>
        <p:nvSpPr>
          <p:cNvPr id="16" name="Text 4"/>
          <p:cNvSpPr/>
          <p:nvPr/>
        </p:nvSpPr>
        <p:spPr>
          <a:xfrm>
            <a:off x="502920" y="6455664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 smtClean="0">
                <a:solidFill>
                  <a:srgbClr val="9AA3A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Sales Performance and Promotion Analysis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018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Recommended next steps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778240" y="393192"/>
            <a:ext cx="25603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Commercial actions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822960"/>
            <a:ext cx="11183112" cy="0"/>
          </a:xfrm>
          <a:prstGeom prst="line">
            <a:avLst/>
          </a:prstGeom>
          <a:noFill/>
          <a:ln w="9525">
            <a:solidFill>
              <a:srgbClr val="DCE2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92840" y="644652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3A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86868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21B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508760" y="123444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018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Close product-availability gaps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508760" y="1719072"/>
            <a:ext cx="9418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Supply all account types with regular, sugar free and yellow edition consistently, with particular attention to the 30 accounts missing yellow edition.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508760" y="2542032"/>
            <a:ext cx="9875520" cy="0"/>
          </a:xfrm>
          <a:prstGeom prst="line">
            <a:avLst/>
          </a:prstGeom>
          <a:noFill/>
          <a:ln w="12700">
            <a:solidFill>
              <a:srgbClr val="DCE2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971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364A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508760" y="29718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018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promotion-effectiveness analysis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508760" y="3456432"/>
            <a:ext cx="9418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 beyond participation counts. Model promotion effect on sales by account type and by individual account using controls such as product availability and baseline sales.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508760" y="4279392"/>
            <a:ext cx="9875520" cy="0"/>
          </a:xfrm>
          <a:prstGeom prst="line">
            <a:avLst/>
          </a:prstGeom>
          <a:noFill/>
          <a:ln w="12700">
            <a:solidFill>
              <a:srgbClr val="DCE2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4709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8A99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508760" y="470916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018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Prioritize account recovery and replication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08760" y="5193792"/>
            <a:ext cx="9418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Replicate behaviors from top accounts while diagnosing the bottom accounts for product gaps, demand patterns, activation mismatch and account-specific execution barriers.</a:t>
            </a:r>
            <a:endParaRPr lang="en-US" sz="1400" dirty="0"/>
          </a:p>
        </p:txBody>
      </p:sp>
      <p:sp>
        <p:nvSpPr>
          <p:cNvPr id="18" name="Text 4"/>
          <p:cNvSpPr/>
          <p:nvPr/>
        </p:nvSpPr>
        <p:spPr>
          <a:xfrm>
            <a:off x="502920" y="6455664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 smtClean="0">
                <a:solidFill>
                  <a:srgbClr val="9AA3A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Sales Performance and Promotion Analysis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018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078992"/>
            <a:ext cx="1737360" cy="0"/>
          </a:xfrm>
          <a:prstGeom prst="line">
            <a:avLst/>
          </a:prstGeom>
          <a:noFill/>
          <a:ln w="50800">
            <a:solidFill>
              <a:srgbClr val="E21B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50876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658368" y="233172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chemeClr val="bg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Sales Performance and Promotion </a:t>
            </a:r>
            <a:r>
              <a:rPr lang="en-US" sz="1500" dirty="0" smtClean="0">
                <a:solidFill>
                  <a:srgbClr val="DCE2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Analysis </a:t>
            </a:r>
            <a:r>
              <a:rPr lang="en-US" sz="1500" dirty="0">
                <a:solidFill>
                  <a:srgbClr val="DCE2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2017–2021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58368" y="4279392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2B70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takeaway: growth is broad, but the next commercial win depends on closing product gaps and testing promotion effectiveness at account level.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1168</Words>
  <Application>Microsoft Office PowerPoint</Application>
  <PresentationFormat>Custom</PresentationFormat>
  <Paragraphs>254</Paragraphs>
  <Slides>14</Slides>
  <Notes>14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Jirh-Fort Research and  Analytics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Sales Performance and Promotion Analysis</dc:title>
  <dc:subject>Sales Data Analysis presentation</dc:subject>
  <dc:creator>Esther Anthony Oyeniyi</dc:creator>
  <cp:lastModifiedBy>Windows User</cp:lastModifiedBy>
  <cp:revision>3</cp:revision>
  <dcterms:created xsi:type="dcterms:W3CDTF">2026-08-08T14:54:27Z</dcterms:created>
  <dcterms:modified xsi:type="dcterms:W3CDTF">2026-08-08T16:00:02Z</dcterms:modified>
</cp:coreProperties>
</file>